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1"/>
  </p:sldMasterIdLst>
  <p:sldIdLst>
    <p:sldId id="256" r:id="rId2"/>
    <p:sldId id="257" r:id="rId3"/>
    <p:sldId id="258" r:id="rId4"/>
    <p:sldId id="259" r:id="rId5"/>
    <p:sldId id="261" r:id="rId6"/>
    <p:sldId id="264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DEE7"/>
    <a:srgbClr val="98A6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D5EC99-E17C-47D7-92A1-3066034252DF}" v="562" dt="2025-11-02T19:06:25.142"/>
    <p1510:client id="{CC50705F-5268-4B46-99AB-B19E34B5390A}" v="976" dt="2025-11-02T16:17:18.2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5EFA59-BF04-419C-BE52-EB0DA0E7B918}" type="doc">
      <dgm:prSet loTypeId="urn:microsoft.com/office/officeart/2005/8/layout/cycle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2A7899B-0BE8-454D-A9F5-ABBFFC71C2F1}">
      <dgm:prSet phldrT="[Text]" phldr="0"/>
      <dgm:spPr/>
      <dgm:t>
        <a:bodyPr/>
        <a:lstStyle/>
        <a:p>
          <a:pPr rtl="0"/>
          <a:r>
            <a:rPr lang="en-US" dirty="0">
              <a:latin typeface="Goudy Old Style"/>
            </a:rPr>
            <a:t>Input stage</a:t>
          </a:r>
          <a:endParaRPr lang="en-US" dirty="0"/>
        </a:p>
      </dgm:t>
    </dgm:pt>
    <dgm:pt modelId="{CB379B0A-0687-455C-A0A9-98FB6E16043C}" type="parTrans" cxnId="{266B1EDC-FD4E-470B-B5DB-C7432F7337CA}">
      <dgm:prSet/>
      <dgm:spPr/>
      <dgm:t>
        <a:bodyPr/>
        <a:lstStyle/>
        <a:p>
          <a:endParaRPr lang="en-US"/>
        </a:p>
      </dgm:t>
    </dgm:pt>
    <dgm:pt modelId="{36362B16-503C-402C-BC1B-84BF60CC148E}" type="sibTrans" cxnId="{266B1EDC-FD4E-470B-B5DB-C7432F7337CA}">
      <dgm:prSet/>
      <dgm:spPr/>
      <dgm:t>
        <a:bodyPr/>
        <a:lstStyle/>
        <a:p>
          <a:endParaRPr lang="en-US"/>
        </a:p>
      </dgm:t>
    </dgm:pt>
    <dgm:pt modelId="{DBC0F1B8-F651-43BD-8E26-9540FF77950F}">
      <dgm:prSet phldrT="[Text]" phldr="0"/>
      <dgm:spPr/>
      <dgm:t>
        <a:bodyPr/>
        <a:lstStyle/>
        <a:p>
          <a:pPr rtl="0"/>
          <a:r>
            <a:rPr lang="en-US" dirty="0">
              <a:latin typeface="Goudy Old Style"/>
            </a:rPr>
            <a:t>User interaction</a:t>
          </a:r>
          <a:endParaRPr lang="en-US" dirty="0"/>
        </a:p>
      </dgm:t>
    </dgm:pt>
    <dgm:pt modelId="{E7DED57F-91D0-4763-9F29-E9ECE43179CC}" type="parTrans" cxnId="{06C45E0E-900F-4E17-89C8-3E6770F8E7F8}">
      <dgm:prSet/>
      <dgm:spPr/>
      <dgm:t>
        <a:bodyPr/>
        <a:lstStyle/>
        <a:p>
          <a:endParaRPr lang="en-US"/>
        </a:p>
      </dgm:t>
    </dgm:pt>
    <dgm:pt modelId="{06ABB29E-75A1-4626-AB7F-49FFCD66B243}" type="sibTrans" cxnId="{06C45E0E-900F-4E17-89C8-3E6770F8E7F8}">
      <dgm:prSet/>
      <dgm:spPr/>
      <dgm:t>
        <a:bodyPr/>
        <a:lstStyle/>
        <a:p>
          <a:endParaRPr lang="en-US"/>
        </a:p>
      </dgm:t>
    </dgm:pt>
    <dgm:pt modelId="{E958F558-F679-4336-8CB0-4513961C859B}">
      <dgm:prSet phldrT="[Text]" phldr="0"/>
      <dgm:spPr/>
      <dgm:t>
        <a:bodyPr/>
        <a:lstStyle/>
        <a:p>
          <a:pPr rtl="0"/>
          <a:r>
            <a:rPr lang="en-US" dirty="0">
              <a:latin typeface="Goudy Old Style"/>
            </a:rPr>
            <a:t>Processing stage</a:t>
          </a:r>
          <a:endParaRPr lang="en-US" dirty="0"/>
        </a:p>
      </dgm:t>
    </dgm:pt>
    <dgm:pt modelId="{8F3B5337-9FE5-4678-8AB0-44AF90AD034A}" type="parTrans" cxnId="{87D15F76-D84E-477F-A6C5-6CFBEC5BBFC0}">
      <dgm:prSet/>
      <dgm:spPr/>
      <dgm:t>
        <a:bodyPr/>
        <a:lstStyle/>
        <a:p>
          <a:endParaRPr lang="en-US"/>
        </a:p>
      </dgm:t>
    </dgm:pt>
    <dgm:pt modelId="{D9046835-1182-4C98-BDCC-00B5CBE12557}" type="sibTrans" cxnId="{87D15F76-D84E-477F-A6C5-6CFBEC5BBFC0}">
      <dgm:prSet/>
      <dgm:spPr/>
      <dgm:t>
        <a:bodyPr/>
        <a:lstStyle/>
        <a:p>
          <a:endParaRPr lang="en-US"/>
        </a:p>
      </dgm:t>
    </dgm:pt>
    <dgm:pt modelId="{B9B872E6-8E81-4DDE-8C87-7F76771590E5}">
      <dgm:prSet phldrT="[Text]" phldr="0"/>
      <dgm:spPr/>
      <dgm:t>
        <a:bodyPr/>
        <a:lstStyle/>
        <a:p>
          <a:pPr rtl="0"/>
          <a:r>
            <a:rPr lang="en-US" dirty="0">
              <a:latin typeface="Goudy Old Style"/>
            </a:rPr>
            <a:t>Distance Array</a:t>
          </a:r>
          <a:endParaRPr lang="en-US" dirty="0"/>
        </a:p>
      </dgm:t>
    </dgm:pt>
    <dgm:pt modelId="{172E9A01-FE64-44AE-AA09-6F6A3F3446CC}" type="parTrans" cxnId="{53A8DCF2-15E9-423F-9A74-F31B7E1FB4C8}">
      <dgm:prSet/>
      <dgm:spPr/>
      <dgm:t>
        <a:bodyPr/>
        <a:lstStyle/>
        <a:p>
          <a:endParaRPr lang="en-US"/>
        </a:p>
      </dgm:t>
    </dgm:pt>
    <dgm:pt modelId="{2317FC29-30C9-49C5-B177-C60C94B85B86}" type="sibTrans" cxnId="{53A8DCF2-15E9-423F-9A74-F31B7E1FB4C8}">
      <dgm:prSet/>
      <dgm:spPr/>
      <dgm:t>
        <a:bodyPr/>
        <a:lstStyle/>
        <a:p>
          <a:endParaRPr lang="en-US"/>
        </a:p>
      </dgm:t>
    </dgm:pt>
    <dgm:pt modelId="{8B031968-D831-4747-BBF3-6B8A1FD35DE9}">
      <dgm:prSet phldrT="[Text]" phldr="0"/>
      <dgm:spPr/>
      <dgm:t>
        <a:bodyPr/>
        <a:lstStyle/>
        <a:p>
          <a:pPr rtl="0"/>
          <a:r>
            <a:rPr lang="en-US" dirty="0">
              <a:latin typeface="Goudy Old Style"/>
            </a:rPr>
            <a:t>Output Stage</a:t>
          </a:r>
          <a:endParaRPr lang="en-US" dirty="0"/>
        </a:p>
      </dgm:t>
    </dgm:pt>
    <dgm:pt modelId="{585D60CE-F3D4-4649-A3F1-DA3210765DD7}" type="parTrans" cxnId="{9202103E-25ED-49E3-A0C7-BC9BD5F7060B}">
      <dgm:prSet/>
      <dgm:spPr/>
      <dgm:t>
        <a:bodyPr/>
        <a:lstStyle/>
        <a:p>
          <a:endParaRPr lang="en-US"/>
        </a:p>
      </dgm:t>
    </dgm:pt>
    <dgm:pt modelId="{DF5330E4-DBF3-4B5B-8360-74F47CB62484}" type="sibTrans" cxnId="{9202103E-25ED-49E3-A0C7-BC9BD5F7060B}">
      <dgm:prSet/>
      <dgm:spPr/>
      <dgm:t>
        <a:bodyPr/>
        <a:lstStyle/>
        <a:p>
          <a:endParaRPr lang="en-US"/>
        </a:p>
      </dgm:t>
    </dgm:pt>
    <dgm:pt modelId="{136C54D3-285B-40ED-B63B-91A3C4FF2307}">
      <dgm:prSet phldr="0"/>
      <dgm:spPr/>
      <dgm:t>
        <a:bodyPr/>
        <a:lstStyle/>
        <a:p>
          <a:pPr rtl="0"/>
          <a:r>
            <a:rPr lang="en-US" dirty="0">
              <a:latin typeface="Goudy Old Style"/>
            </a:rPr>
            <a:t>Graph</a:t>
          </a:r>
        </a:p>
      </dgm:t>
    </dgm:pt>
    <dgm:pt modelId="{59B6B35F-56AE-4942-B1EF-4B134B7554CA}" type="parTrans" cxnId="{04008514-D29D-4A10-BE25-60F774C9FBB8}">
      <dgm:prSet/>
      <dgm:spPr/>
    </dgm:pt>
    <dgm:pt modelId="{2C28A346-4F5A-4085-86AB-504E4EF0540B}" type="sibTrans" cxnId="{04008514-D29D-4A10-BE25-60F774C9FBB8}">
      <dgm:prSet/>
      <dgm:spPr/>
    </dgm:pt>
    <dgm:pt modelId="{51F0728D-5367-4A7D-A471-B5E502EE3349}" type="pres">
      <dgm:prSet presAssocID="{0F5EFA59-BF04-419C-BE52-EB0DA0E7B918}" presName="Name0" presStyleCnt="0">
        <dgm:presLayoutVars>
          <dgm:dir/>
          <dgm:resizeHandles val="exact"/>
        </dgm:presLayoutVars>
      </dgm:prSet>
      <dgm:spPr/>
    </dgm:pt>
    <dgm:pt modelId="{C24682AF-5560-41CF-AF36-4E671CA7B6FF}" type="pres">
      <dgm:prSet presAssocID="{0F5EFA59-BF04-419C-BE52-EB0DA0E7B918}" presName="cycle" presStyleCnt="0"/>
      <dgm:spPr/>
    </dgm:pt>
    <dgm:pt modelId="{B68B77EE-8885-4D58-AA29-BC86633B0B9A}" type="pres">
      <dgm:prSet presAssocID="{52A7899B-0BE8-454D-A9F5-ABBFFC71C2F1}" presName="nodeFirstNode" presStyleLbl="node1" presStyleIdx="0" presStyleCnt="6">
        <dgm:presLayoutVars>
          <dgm:bulletEnabled val="1"/>
        </dgm:presLayoutVars>
      </dgm:prSet>
      <dgm:spPr/>
    </dgm:pt>
    <dgm:pt modelId="{FC0ED33C-6675-40E6-89CF-77DA8DEF9996}" type="pres">
      <dgm:prSet presAssocID="{36362B16-503C-402C-BC1B-84BF60CC148E}" presName="sibTransFirstNode" presStyleLbl="bgShp" presStyleIdx="0" presStyleCnt="1"/>
      <dgm:spPr/>
    </dgm:pt>
    <dgm:pt modelId="{9DC6DCF1-1363-48DE-A740-9409F76AF2A7}" type="pres">
      <dgm:prSet presAssocID="{DBC0F1B8-F651-43BD-8E26-9540FF77950F}" presName="nodeFollowingNodes" presStyleLbl="node1" presStyleIdx="1" presStyleCnt="6">
        <dgm:presLayoutVars>
          <dgm:bulletEnabled val="1"/>
        </dgm:presLayoutVars>
      </dgm:prSet>
      <dgm:spPr/>
    </dgm:pt>
    <dgm:pt modelId="{75A3404A-6770-461D-A7BB-4A73D86229C0}" type="pres">
      <dgm:prSet presAssocID="{E958F558-F679-4336-8CB0-4513961C859B}" presName="nodeFollowingNodes" presStyleLbl="node1" presStyleIdx="2" presStyleCnt="6">
        <dgm:presLayoutVars>
          <dgm:bulletEnabled val="1"/>
        </dgm:presLayoutVars>
      </dgm:prSet>
      <dgm:spPr/>
    </dgm:pt>
    <dgm:pt modelId="{6C7D677C-1BD3-4257-96E4-3A9168A40402}" type="pres">
      <dgm:prSet presAssocID="{B9B872E6-8E81-4DDE-8C87-7F76771590E5}" presName="nodeFollowingNodes" presStyleLbl="node1" presStyleIdx="3" presStyleCnt="6">
        <dgm:presLayoutVars>
          <dgm:bulletEnabled val="1"/>
        </dgm:presLayoutVars>
      </dgm:prSet>
      <dgm:spPr/>
    </dgm:pt>
    <dgm:pt modelId="{241329D6-13BA-473A-8B1F-9964CD2CD506}" type="pres">
      <dgm:prSet presAssocID="{8B031968-D831-4747-BBF3-6B8A1FD35DE9}" presName="nodeFollowingNodes" presStyleLbl="node1" presStyleIdx="4" presStyleCnt="6">
        <dgm:presLayoutVars>
          <dgm:bulletEnabled val="1"/>
        </dgm:presLayoutVars>
      </dgm:prSet>
      <dgm:spPr/>
    </dgm:pt>
    <dgm:pt modelId="{10B54008-EE2D-4CBB-B64A-F122C6B29E21}" type="pres">
      <dgm:prSet presAssocID="{136C54D3-285B-40ED-B63B-91A3C4FF2307}" presName="nodeFollowingNodes" presStyleLbl="node1" presStyleIdx="5" presStyleCnt="6">
        <dgm:presLayoutVars>
          <dgm:bulletEnabled val="1"/>
        </dgm:presLayoutVars>
      </dgm:prSet>
      <dgm:spPr/>
    </dgm:pt>
  </dgm:ptLst>
  <dgm:cxnLst>
    <dgm:cxn modelId="{06C45E0E-900F-4E17-89C8-3E6770F8E7F8}" srcId="{0F5EFA59-BF04-419C-BE52-EB0DA0E7B918}" destId="{DBC0F1B8-F651-43BD-8E26-9540FF77950F}" srcOrd="1" destOrd="0" parTransId="{E7DED57F-91D0-4763-9F29-E9ECE43179CC}" sibTransId="{06ABB29E-75A1-4626-AB7F-49FFCD66B243}"/>
    <dgm:cxn modelId="{04008514-D29D-4A10-BE25-60F774C9FBB8}" srcId="{0F5EFA59-BF04-419C-BE52-EB0DA0E7B918}" destId="{136C54D3-285B-40ED-B63B-91A3C4FF2307}" srcOrd="5" destOrd="0" parTransId="{59B6B35F-56AE-4942-B1EF-4B134B7554CA}" sibTransId="{2C28A346-4F5A-4085-86AB-504E4EF0540B}"/>
    <dgm:cxn modelId="{7BCE8727-AFB0-4AFF-8540-46BD8AEFFC86}" type="presOf" srcId="{B9B872E6-8E81-4DDE-8C87-7F76771590E5}" destId="{6C7D677C-1BD3-4257-96E4-3A9168A40402}" srcOrd="0" destOrd="0" presId="urn:microsoft.com/office/officeart/2005/8/layout/cycle3"/>
    <dgm:cxn modelId="{9202103E-25ED-49E3-A0C7-BC9BD5F7060B}" srcId="{0F5EFA59-BF04-419C-BE52-EB0DA0E7B918}" destId="{8B031968-D831-4747-BBF3-6B8A1FD35DE9}" srcOrd="4" destOrd="0" parTransId="{585D60CE-F3D4-4649-A3F1-DA3210765DD7}" sibTransId="{DF5330E4-DBF3-4B5B-8360-74F47CB62484}"/>
    <dgm:cxn modelId="{FC571C5B-347A-4239-AC6D-6D8086A24E86}" type="presOf" srcId="{DBC0F1B8-F651-43BD-8E26-9540FF77950F}" destId="{9DC6DCF1-1363-48DE-A740-9409F76AF2A7}" srcOrd="0" destOrd="0" presId="urn:microsoft.com/office/officeart/2005/8/layout/cycle3"/>
    <dgm:cxn modelId="{A4AE2863-D132-471B-89C8-A77B284FB37A}" type="presOf" srcId="{36362B16-503C-402C-BC1B-84BF60CC148E}" destId="{FC0ED33C-6675-40E6-89CF-77DA8DEF9996}" srcOrd="0" destOrd="0" presId="urn:microsoft.com/office/officeart/2005/8/layout/cycle3"/>
    <dgm:cxn modelId="{E977EF67-785A-461F-B0D0-9FB6E82CE6E3}" type="presOf" srcId="{136C54D3-285B-40ED-B63B-91A3C4FF2307}" destId="{10B54008-EE2D-4CBB-B64A-F122C6B29E21}" srcOrd="0" destOrd="0" presId="urn:microsoft.com/office/officeart/2005/8/layout/cycle3"/>
    <dgm:cxn modelId="{87D15F76-D84E-477F-A6C5-6CFBEC5BBFC0}" srcId="{0F5EFA59-BF04-419C-BE52-EB0DA0E7B918}" destId="{E958F558-F679-4336-8CB0-4513961C859B}" srcOrd="2" destOrd="0" parTransId="{8F3B5337-9FE5-4678-8AB0-44AF90AD034A}" sibTransId="{D9046835-1182-4C98-BDCC-00B5CBE12557}"/>
    <dgm:cxn modelId="{2BB89F89-C21D-4B1B-A8F8-483AA71EC5CD}" type="presOf" srcId="{8B031968-D831-4747-BBF3-6B8A1FD35DE9}" destId="{241329D6-13BA-473A-8B1F-9964CD2CD506}" srcOrd="0" destOrd="0" presId="urn:microsoft.com/office/officeart/2005/8/layout/cycle3"/>
    <dgm:cxn modelId="{AB7340BF-8D3B-4EDD-895F-6A9D7023C2BE}" type="presOf" srcId="{0F5EFA59-BF04-419C-BE52-EB0DA0E7B918}" destId="{51F0728D-5367-4A7D-A471-B5E502EE3349}" srcOrd="0" destOrd="0" presId="urn:microsoft.com/office/officeart/2005/8/layout/cycle3"/>
    <dgm:cxn modelId="{266B1EDC-FD4E-470B-B5DB-C7432F7337CA}" srcId="{0F5EFA59-BF04-419C-BE52-EB0DA0E7B918}" destId="{52A7899B-0BE8-454D-A9F5-ABBFFC71C2F1}" srcOrd="0" destOrd="0" parTransId="{CB379B0A-0687-455C-A0A9-98FB6E16043C}" sibTransId="{36362B16-503C-402C-BC1B-84BF60CC148E}"/>
    <dgm:cxn modelId="{A2886FEA-C886-4AF1-BDFF-3EA876F29A59}" type="presOf" srcId="{E958F558-F679-4336-8CB0-4513961C859B}" destId="{75A3404A-6770-461D-A7BB-4A73D86229C0}" srcOrd="0" destOrd="0" presId="urn:microsoft.com/office/officeart/2005/8/layout/cycle3"/>
    <dgm:cxn modelId="{543EBAEA-682D-4021-8F02-38D0BAD4CF47}" type="presOf" srcId="{52A7899B-0BE8-454D-A9F5-ABBFFC71C2F1}" destId="{B68B77EE-8885-4D58-AA29-BC86633B0B9A}" srcOrd="0" destOrd="0" presId="urn:microsoft.com/office/officeart/2005/8/layout/cycle3"/>
    <dgm:cxn modelId="{53A8DCF2-15E9-423F-9A74-F31B7E1FB4C8}" srcId="{0F5EFA59-BF04-419C-BE52-EB0DA0E7B918}" destId="{B9B872E6-8E81-4DDE-8C87-7F76771590E5}" srcOrd="3" destOrd="0" parTransId="{172E9A01-FE64-44AE-AA09-6F6A3F3446CC}" sibTransId="{2317FC29-30C9-49C5-B177-C60C94B85B86}"/>
    <dgm:cxn modelId="{63E95B3F-AE68-4BB5-B6BE-E2991082B64B}" type="presParOf" srcId="{51F0728D-5367-4A7D-A471-B5E502EE3349}" destId="{C24682AF-5560-41CF-AF36-4E671CA7B6FF}" srcOrd="0" destOrd="0" presId="urn:microsoft.com/office/officeart/2005/8/layout/cycle3"/>
    <dgm:cxn modelId="{5A371FAF-EEE6-4EA0-89BD-D25B10A57260}" type="presParOf" srcId="{C24682AF-5560-41CF-AF36-4E671CA7B6FF}" destId="{B68B77EE-8885-4D58-AA29-BC86633B0B9A}" srcOrd="0" destOrd="0" presId="urn:microsoft.com/office/officeart/2005/8/layout/cycle3"/>
    <dgm:cxn modelId="{94030741-49CE-4403-9A8E-25D6F335C8EC}" type="presParOf" srcId="{C24682AF-5560-41CF-AF36-4E671CA7B6FF}" destId="{FC0ED33C-6675-40E6-89CF-77DA8DEF9996}" srcOrd="1" destOrd="0" presId="urn:microsoft.com/office/officeart/2005/8/layout/cycle3"/>
    <dgm:cxn modelId="{890E96FA-C601-4434-88EE-D1B03EA699D8}" type="presParOf" srcId="{C24682AF-5560-41CF-AF36-4E671CA7B6FF}" destId="{9DC6DCF1-1363-48DE-A740-9409F76AF2A7}" srcOrd="2" destOrd="0" presId="urn:microsoft.com/office/officeart/2005/8/layout/cycle3"/>
    <dgm:cxn modelId="{3A8410BB-BD79-42A1-B45D-EDCF5ECFEDE8}" type="presParOf" srcId="{C24682AF-5560-41CF-AF36-4E671CA7B6FF}" destId="{75A3404A-6770-461D-A7BB-4A73D86229C0}" srcOrd="3" destOrd="0" presId="urn:microsoft.com/office/officeart/2005/8/layout/cycle3"/>
    <dgm:cxn modelId="{78610856-DBA2-45FD-964D-A500F221EAAD}" type="presParOf" srcId="{C24682AF-5560-41CF-AF36-4E671CA7B6FF}" destId="{6C7D677C-1BD3-4257-96E4-3A9168A40402}" srcOrd="4" destOrd="0" presId="urn:microsoft.com/office/officeart/2005/8/layout/cycle3"/>
    <dgm:cxn modelId="{C35D1ADD-D776-4DA9-9E5F-C894A949FC4B}" type="presParOf" srcId="{C24682AF-5560-41CF-AF36-4E671CA7B6FF}" destId="{241329D6-13BA-473A-8B1F-9964CD2CD506}" srcOrd="5" destOrd="0" presId="urn:microsoft.com/office/officeart/2005/8/layout/cycle3"/>
    <dgm:cxn modelId="{ACE486E4-C9A4-4F85-9215-8FDA7E66706C}" type="presParOf" srcId="{C24682AF-5560-41CF-AF36-4E671CA7B6FF}" destId="{10B54008-EE2D-4CBB-B64A-F122C6B29E21}" srcOrd="6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0ED33C-6675-40E6-89CF-77DA8DEF9996}">
      <dsp:nvSpPr>
        <dsp:cNvPr id="0" name=""/>
        <dsp:cNvSpPr/>
      </dsp:nvSpPr>
      <dsp:spPr>
        <a:xfrm>
          <a:off x="733269" y="-5186"/>
          <a:ext cx="5197937" cy="5197937"/>
        </a:xfrm>
        <a:prstGeom prst="circularArrow">
          <a:avLst>
            <a:gd name="adj1" fmla="val 5274"/>
            <a:gd name="adj2" fmla="val 312630"/>
            <a:gd name="adj3" fmla="val 14255101"/>
            <a:gd name="adj4" fmla="val 17111254"/>
            <a:gd name="adj5" fmla="val 5477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8B77EE-8885-4D58-AA29-BC86633B0B9A}">
      <dsp:nvSpPr>
        <dsp:cNvPr id="0" name=""/>
        <dsp:cNvSpPr/>
      </dsp:nvSpPr>
      <dsp:spPr>
        <a:xfrm>
          <a:off x="2359250" y="1656"/>
          <a:ext cx="1945974" cy="9729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Goudy Old Style"/>
            </a:rPr>
            <a:t>Input stage</a:t>
          </a:r>
          <a:endParaRPr lang="en-US" sz="2600" kern="1200" dirty="0"/>
        </a:p>
      </dsp:txBody>
      <dsp:txXfrm>
        <a:off x="2406747" y="49153"/>
        <a:ext cx="1850980" cy="877993"/>
      </dsp:txXfrm>
    </dsp:sp>
    <dsp:sp modelId="{9DC6DCF1-1363-48DE-A740-9409F76AF2A7}">
      <dsp:nvSpPr>
        <dsp:cNvPr id="0" name=""/>
        <dsp:cNvSpPr/>
      </dsp:nvSpPr>
      <dsp:spPr>
        <a:xfrm>
          <a:off x="4185435" y="1056005"/>
          <a:ext cx="1945974" cy="9729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Goudy Old Style"/>
            </a:rPr>
            <a:t>User interaction</a:t>
          </a:r>
          <a:endParaRPr lang="en-US" sz="2600" kern="1200" dirty="0"/>
        </a:p>
      </dsp:txBody>
      <dsp:txXfrm>
        <a:off x="4232932" y="1103502"/>
        <a:ext cx="1850980" cy="877993"/>
      </dsp:txXfrm>
    </dsp:sp>
    <dsp:sp modelId="{75A3404A-6770-461D-A7BB-4A73D86229C0}">
      <dsp:nvSpPr>
        <dsp:cNvPr id="0" name=""/>
        <dsp:cNvSpPr/>
      </dsp:nvSpPr>
      <dsp:spPr>
        <a:xfrm>
          <a:off x="4185435" y="3164702"/>
          <a:ext cx="1945974" cy="9729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Goudy Old Style"/>
            </a:rPr>
            <a:t>Processing stage</a:t>
          </a:r>
          <a:endParaRPr lang="en-US" sz="2600" kern="1200" dirty="0"/>
        </a:p>
      </dsp:txBody>
      <dsp:txXfrm>
        <a:off x="4232932" y="3212199"/>
        <a:ext cx="1850980" cy="877993"/>
      </dsp:txXfrm>
    </dsp:sp>
    <dsp:sp modelId="{6C7D677C-1BD3-4257-96E4-3A9168A40402}">
      <dsp:nvSpPr>
        <dsp:cNvPr id="0" name=""/>
        <dsp:cNvSpPr/>
      </dsp:nvSpPr>
      <dsp:spPr>
        <a:xfrm>
          <a:off x="2359250" y="4219050"/>
          <a:ext cx="1945974" cy="9729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Goudy Old Style"/>
            </a:rPr>
            <a:t>Distance Array</a:t>
          </a:r>
          <a:endParaRPr lang="en-US" sz="2600" kern="1200" dirty="0"/>
        </a:p>
      </dsp:txBody>
      <dsp:txXfrm>
        <a:off x="2406747" y="4266547"/>
        <a:ext cx="1850980" cy="877993"/>
      </dsp:txXfrm>
    </dsp:sp>
    <dsp:sp modelId="{241329D6-13BA-473A-8B1F-9964CD2CD506}">
      <dsp:nvSpPr>
        <dsp:cNvPr id="0" name=""/>
        <dsp:cNvSpPr/>
      </dsp:nvSpPr>
      <dsp:spPr>
        <a:xfrm>
          <a:off x="533065" y="3164702"/>
          <a:ext cx="1945974" cy="9729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Goudy Old Style"/>
            </a:rPr>
            <a:t>Output Stage</a:t>
          </a:r>
          <a:endParaRPr lang="en-US" sz="2600" kern="1200" dirty="0"/>
        </a:p>
      </dsp:txBody>
      <dsp:txXfrm>
        <a:off x="580562" y="3212199"/>
        <a:ext cx="1850980" cy="877993"/>
      </dsp:txXfrm>
    </dsp:sp>
    <dsp:sp modelId="{10B54008-EE2D-4CBB-B64A-F122C6B29E21}">
      <dsp:nvSpPr>
        <dsp:cNvPr id="0" name=""/>
        <dsp:cNvSpPr/>
      </dsp:nvSpPr>
      <dsp:spPr>
        <a:xfrm>
          <a:off x="533065" y="1056005"/>
          <a:ext cx="1945974" cy="9729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Goudy Old Style"/>
            </a:rPr>
            <a:t>Graph</a:t>
          </a:r>
        </a:p>
      </dsp:txBody>
      <dsp:txXfrm>
        <a:off x="580562" y="1103502"/>
        <a:ext cx="1850980" cy="8779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57C3F-0FB2-4B2E-BA6A-FEEEFF1AF7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7400" y="685801"/>
            <a:ext cx="8115300" cy="3046228"/>
          </a:xfrm>
        </p:spPr>
        <p:txBody>
          <a:bodyPr anchor="b">
            <a:normAutofit/>
          </a:bodyPr>
          <a:lstStyle>
            <a:lvl1pPr algn="ctr">
              <a:defRPr sz="36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583AE9-1CC1-4572-A6E5-E97F80E476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7400" y="4114800"/>
            <a:ext cx="8115300" cy="2057400"/>
          </a:xfrm>
        </p:spPr>
        <p:txBody>
          <a:bodyPr/>
          <a:lstStyle>
            <a:lvl1pPr marL="0" indent="0" algn="ctr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4DE7C-68AB-403D-B9D8-7398C292C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A57E-7C1A-457B-A4CD-5DCEB057B502}" type="datetime1">
              <a:rPr lang="en-US" smtClean="0"/>
              <a:t>11/2/2025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03E50-6613-4D86-AA22-43B14E727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69AB5-A56D-471F-9236-EFA981E2E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025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9B412-EBAB-4569-B3D9-6B346BF83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486900" cy="1371600"/>
          </a:xfrm>
        </p:spPr>
        <p:txBody>
          <a:bodyPr>
            <a:normAutofit/>
          </a:bodyPr>
          <a:lstStyle>
            <a:lvl1pPr algn="l">
              <a:defRPr sz="32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7C8AE-B0F4-404F-BCAD-A14C18E50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A9CAD-DAFB-4DE3-9C41-7FD03EA8D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AF2CE-4F37-411C-A3EE-BBBE223265BF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E3137-8136-46C5-AC2F-49E5F55E4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AB6EF-A0B1-4706-AE44-253A6B182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412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02F68-BF19-468D-B422-54B6D189F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77407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CBF7D7-84D4-4A39-B44E-9B029EEB1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41624"/>
            <a:ext cx="10515600" cy="1448026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29709-D243-41E8-89FA-62FA7AEB5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083D4-708C-4BB5-B4FD-30CE9FA12FD5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B99C0-DC2A-4133-A10D-D43A1E05B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22EFD-A17E-47F5-8AC9-EFD6D813D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516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C668D-BFBE-4765-A294-8303931B5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071" y="566278"/>
            <a:ext cx="9512429" cy="965458"/>
          </a:xfrm>
        </p:spPr>
        <p:txBody>
          <a:bodyPr/>
          <a:lstStyle>
            <a:lvl1pPr algn="ctr">
              <a:defRPr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3C212-F55F-4D0D-BFA7-F00A33CAA1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09758" y="2057400"/>
            <a:ext cx="5031521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54BDD7-2575-4E82-887D-DCAF9EB159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5408" y="2057401"/>
            <a:ext cx="5016834" cy="41195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AECC8-3C3A-4A5D-AB7A-1F99E5023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239B2-65BC-4C2A-A62B-3EABFE9590E4}" type="datetime1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47609B-ACA4-4323-9340-C7DB166D7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09EA3-C5C7-4AC6-956A-DB9A3B4F3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445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0CDE0-7431-4F05-AA47-F10EB46C9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276552" cy="1149350"/>
          </a:xfrm>
        </p:spPr>
        <p:txBody>
          <a:bodyPr>
            <a:normAutofit/>
          </a:bodyPr>
          <a:lstStyle>
            <a:lvl1pPr algn="ctr">
              <a:defRPr sz="32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D9FFA7-D3EA-4CB8-A471-94235AD62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5360D2-88E8-43C8-92D1-67AB23BBE2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C768F6-20A1-47A1-90FE-903135EEFD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555EC1-268F-4324-A003-3608AA0D84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55C8E4-FCB8-4E06-9C43-0ACD949A7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05F5A-E4A3-476F-A89E-C2B73F2431E4}" type="datetime1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01C005-C973-4D82-942A-334F1D431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FB6186-6570-4DE8-8603-70B0A51DF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228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5ADD3-88C8-4B01-8CC6-808C0E416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634E6A-1390-4101-B78E-759231340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61515-4A26-4F31-9F61-5A10B1FABBFC}" type="datetime1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BC7B90-4C99-4653-872A-3572A02DA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B03516-4D31-49D2-9488-33C734A7A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526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0D8488-CF25-431B-A87A-AAF141BD0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5DC65-7D1F-4BAB-9695-F7E734143E14}" type="datetime1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2F58E5-C92D-4C64-B867-0576B1EAD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16797-ABEC-4FE0-AFDE-36107B967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379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8F2B0-990D-418E-9D10-2464E9866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81131-AFFD-4339-9F30-D408B5105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7C47F4-7968-4698-8BD3-A583099FAA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2BC6F-3996-4B2B-B8F2-DD3A82CCF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24077-BD55-4036-8E92-6558FDF3B653}" type="datetime1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832E66-581A-4CF2-A40A-4E24FAAC4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3B1C89-C625-4618-81A2-FB34E4DA0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314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1486F-443A-4F2D-AB1F-8B1F4C4DE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A21213-E7FB-406A-B8CD-735AAC7AD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F41A03-500E-49F7-8D99-A1EAFE4D34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1523D-69E9-4EAE-A610-B3A237B75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225F2-7107-4609-BCC2-77C63064A5E8}" type="datetime1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B852F-4134-4AB5-BA87-483B1E1AD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34C5CB-918E-4A09-8222-D36E37B63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567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2744C-12E6-455B-B646-2EA92DE0E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D71C4D-C062-4EEE-9A9A-31ADCC5C87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4DC97-C26E-407A-9E29-68C52D547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89749-A4CD-447F-8298-2B7988C91CEA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E9353-B771-47FF-975E-72337414E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5A858-B8B2-4364-A7D0-B2E8FAE0A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735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A6BABE-D80C-4F54-A03C-E1F9EBCA83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285191-EF5B-48BE-AB5D-B7BA4C3D09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A387A-1231-4FE3-8574-D4331A343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444D3-C0BA-4587-A56C-581AB9F841BE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21559-4901-4AD3-ABE7-DF0235457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6C18E-B751-4E7B-9CD8-1BF44DAB8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130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AA0686-7BAC-45C0-BA30-0D0CBCE5C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4869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202DE-82CD-407D-8C68-174B0CBB5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599" y="2254103"/>
            <a:ext cx="9486901" cy="39180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4AC9D-6E1B-46D3-959F-A068A1EDBD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9800022" y="3223751"/>
            <a:ext cx="4114801" cy="410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300" baseline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D3FE42E8-8B57-452D-A122-4DCE9AC771EF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C0015-9EFB-40F8-BC00-AC2483D609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708136" y="3223750"/>
            <a:ext cx="4114800" cy="410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300" baseline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2C732-0E3E-49E0-A72E-D4C08CB445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6340" y="6356350"/>
            <a:ext cx="8718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spc="3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F8E28480-1C08-4458-AD97-0283E6FFD0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588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29" r:id="rId6"/>
    <p:sldLayoutId id="2147483725" r:id="rId7"/>
    <p:sldLayoutId id="2147483726" r:id="rId8"/>
    <p:sldLayoutId id="2147483727" r:id="rId9"/>
    <p:sldLayoutId id="2147483728" r:id="rId10"/>
    <p:sldLayoutId id="2147483730" r:id="rId11"/>
  </p:sldLayoutIdLst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7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7BB8F75B-C884-4D2B-AE54-13C07B581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6177" y="568842"/>
            <a:ext cx="3880229" cy="57096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dirty="0">
                <a:highlight>
                  <a:srgbClr val="DBDEE7"/>
                </a:highlight>
              </a:rPr>
              <a:t>Optimal Route Planner</a:t>
            </a:r>
            <a:br>
              <a:rPr lang="en-US" sz="4000" b="1" dirty="0">
                <a:highlight>
                  <a:srgbClr val="DBDEE7"/>
                </a:highlight>
              </a:rPr>
            </a:br>
            <a:br>
              <a:rPr lang="en-US" dirty="0">
                <a:highlight>
                  <a:srgbClr val="DBDEE7"/>
                </a:highlight>
              </a:rPr>
            </a:br>
            <a:r>
              <a:rPr lang="en-US" sz="2800" dirty="0">
                <a:highlight>
                  <a:srgbClr val="DBDEE7"/>
                </a:highlight>
              </a:rPr>
              <a:t>Domain: Travel and Logistics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1FEFA6-7D4F-4746-AE64-D4D52FE76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200" y="0"/>
            <a:ext cx="6781800" cy="6858000"/>
          </a:xfrm>
          <a:prstGeom prst="rect">
            <a:avLst/>
          </a:prstGeom>
          <a:solidFill>
            <a:schemeClr val="tx2">
              <a:lumMod val="75000"/>
              <a:lumOff val="2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0" y="568842"/>
            <a:ext cx="5426846" cy="57096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C0C0C0"/>
                </a:highlight>
              </a:rPr>
              <a:t>By-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  <a:highlight>
                <a:srgbClr val="C0C0C0"/>
              </a:highlight>
            </a:endParaRP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C0C0C0"/>
                </a:highlight>
              </a:rPr>
              <a:t>Mansi Jumde (B1-09)</a:t>
            </a:r>
            <a:endParaRPr lang="en-US" b="1">
              <a:solidFill>
                <a:schemeClr val="tx1">
                  <a:lumMod val="95000"/>
                  <a:lumOff val="5000"/>
                </a:schemeClr>
              </a:solidFill>
              <a:highlight>
                <a:srgbClr val="C0C0C0"/>
              </a:highlight>
            </a:endParaRP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C0C0C0"/>
                </a:highlight>
              </a:rPr>
              <a:t>Khushab likhitker (B1-07)</a:t>
            </a:r>
            <a:endParaRPr lang="en-US" b="1">
              <a:solidFill>
                <a:schemeClr val="tx1">
                  <a:lumMod val="95000"/>
                  <a:lumOff val="5000"/>
                </a:schemeClr>
              </a:solidFill>
              <a:highlight>
                <a:srgbClr val="C0C0C0"/>
              </a:highlight>
            </a:endParaRP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C0C0C0"/>
                </a:highlight>
              </a:rPr>
              <a:t>Radhika joshi (B3-35)</a:t>
            </a:r>
            <a:endParaRPr lang="en-US" b="1">
              <a:solidFill>
                <a:schemeClr val="tx1">
                  <a:lumMod val="95000"/>
                  <a:lumOff val="5000"/>
                </a:schemeClr>
              </a:solidFill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64E3D-4873-164F-0189-B77235A93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039" y="-140638"/>
            <a:ext cx="10281849" cy="1056915"/>
          </a:xfrm>
        </p:spPr>
        <p:txBody>
          <a:bodyPr>
            <a:noAutofit/>
          </a:bodyPr>
          <a:lstStyle/>
          <a:p>
            <a:r>
              <a:rPr lang="en-US" sz="3600" b="1" dirty="0">
                <a:ea typeface="+mj-lt"/>
                <a:cs typeface="+mj-lt"/>
              </a:rPr>
              <a:t>Problem Statement &amp; Objective</a:t>
            </a:r>
            <a:endParaRPr lang="en-US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F3D4F-133A-FC96-39F1-192E83F9C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3" y="1328400"/>
            <a:ext cx="11454879" cy="524794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ea typeface="+mj-lt"/>
                <a:cs typeface="+mj-lt"/>
              </a:rPr>
              <a:t>Goal:</a:t>
            </a:r>
            <a:r>
              <a:rPr lang="en-US" sz="2800" dirty="0">
                <a:ea typeface="+mj-lt"/>
                <a:cs typeface="+mj-lt"/>
              </a:rPr>
              <a:t> To design an efficient system that computes the shortest travel routes between cities.</a:t>
            </a:r>
          </a:p>
          <a:p>
            <a:pPr marL="0" indent="0">
              <a:buNone/>
            </a:pPr>
            <a:r>
              <a:rPr lang="en-US" sz="2800" b="1" dirty="0">
                <a:ea typeface="+mj-lt"/>
                <a:cs typeface="+mj-lt"/>
              </a:rPr>
              <a:t>Problem:</a:t>
            </a:r>
          </a:p>
          <a:p>
            <a:r>
              <a:rPr lang="en-US" sz="2800" dirty="0">
                <a:ea typeface="+mj-lt"/>
                <a:cs typeface="+mj-lt"/>
              </a:rPr>
              <a:t>Finding shortest paths between multiple cities is complex and repetitive.</a:t>
            </a:r>
          </a:p>
          <a:p>
            <a:r>
              <a:rPr lang="en-US" sz="2800" dirty="0">
                <a:ea typeface="+mj-lt"/>
                <a:cs typeface="+mj-lt"/>
              </a:rPr>
              <a:t> Manual route calculation takes time and lacks optimization.</a:t>
            </a:r>
            <a:endParaRPr lang="en-US" sz="2800"/>
          </a:p>
          <a:p>
            <a:pPr marL="0" indent="0">
              <a:buNone/>
            </a:pPr>
            <a:r>
              <a:rPr lang="en-US" sz="2800" b="1" dirty="0">
                <a:ea typeface="+mj-lt"/>
                <a:cs typeface="+mj-lt"/>
              </a:rPr>
              <a:t>Objective:</a:t>
            </a:r>
          </a:p>
          <a:p>
            <a:r>
              <a:rPr lang="en-US" sz="2800" dirty="0">
                <a:ea typeface="+mj-lt"/>
                <a:cs typeface="+mj-lt"/>
              </a:rPr>
              <a:t>Implement shortest path algorithm (</a:t>
            </a:r>
            <a:r>
              <a:rPr lang="en-US" sz="2800" b="1" dirty="0">
                <a:ea typeface="+mj-lt"/>
                <a:cs typeface="+mj-lt"/>
              </a:rPr>
              <a:t>Bellman-Ford</a:t>
            </a:r>
            <a:r>
              <a:rPr lang="en-US" sz="2800" dirty="0">
                <a:ea typeface="+mj-lt"/>
                <a:cs typeface="+mj-lt"/>
              </a:rPr>
              <a:t> / Floyd-Warshall).</a:t>
            </a:r>
            <a:endParaRPr lang="en-US" sz="2800"/>
          </a:p>
          <a:p>
            <a:r>
              <a:rPr lang="en-US" sz="2800" dirty="0">
                <a:ea typeface="+mj-lt"/>
                <a:cs typeface="+mj-lt"/>
              </a:rPr>
              <a:t>Optimize with memoization for repeated queries.</a:t>
            </a:r>
            <a:endParaRPr lang="en-US" sz="2800"/>
          </a:p>
          <a:p>
            <a:r>
              <a:rPr lang="en-US" sz="2800" dirty="0">
                <a:ea typeface="+mj-lt"/>
                <a:cs typeface="+mj-lt"/>
              </a:rPr>
              <a:t>Present results in a clear route-map view.</a:t>
            </a:r>
            <a:endParaRPr lang="en-US" sz="2800"/>
          </a:p>
          <a:p>
            <a:endParaRPr lang="en-US" sz="2800" dirty="0">
              <a:ea typeface="+mj-lt"/>
              <a:cs typeface="+mj-lt"/>
            </a:endParaRPr>
          </a:p>
          <a:p>
            <a:endParaRPr lang="en-US" dirty="0"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42310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58772-E490-30B9-27F0-4F918A1C1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0492" y="148187"/>
            <a:ext cx="6031625" cy="58332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ea typeface="+mj-lt"/>
                <a:cs typeface="+mj-lt"/>
              </a:rPr>
              <a:t>Algorithm &amp; Approach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7D2D2-0A2A-CE5A-7D62-E3982AFBA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358" y="966586"/>
            <a:ext cx="11470728" cy="57311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ea typeface="+mj-lt"/>
                <a:cs typeface="+mj-lt"/>
              </a:rPr>
              <a:t>Algorithm Used:</a:t>
            </a:r>
            <a:r>
              <a:rPr lang="en-US" dirty="0">
                <a:ea typeface="+mj-lt"/>
                <a:cs typeface="+mj-lt"/>
              </a:rPr>
              <a:t> Bellman-Ford is a </a:t>
            </a:r>
            <a:r>
              <a:rPr lang="en-US" b="1" dirty="0">
                <a:ea typeface="+mj-lt"/>
                <a:cs typeface="+mj-lt"/>
              </a:rPr>
              <a:t>Dynamic Programming–based shortest path algorithm</a:t>
            </a:r>
            <a:r>
              <a:rPr lang="en-US" dirty="0">
                <a:ea typeface="+mj-lt"/>
                <a:cs typeface="+mj-lt"/>
              </a:rPr>
              <a:t> used to find the </a:t>
            </a:r>
            <a:r>
              <a:rPr lang="en-US" b="1" dirty="0">
                <a:ea typeface="+mj-lt"/>
                <a:cs typeface="+mj-lt"/>
              </a:rPr>
              <a:t>minimum distance from a source city to all other cities</a:t>
            </a:r>
            <a:r>
              <a:rPr lang="en-US" dirty="0">
                <a:ea typeface="+mj-lt"/>
                <a:cs typeface="+mj-lt"/>
              </a:rPr>
              <a:t> in a </a:t>
            </a:r>
            <a:r>
              <a:rPr lang="en-US" b="1" dirty="0">
                <a:ea typeface="+mj-lt"/>
                <a:cs typeface="+mj-lt"/>
              </a:rPr>
              <a:t>weighted road network (graph)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  <a:p>
            <a:pPr marL="0" indent="0">
              <a:buNone/>
            </a:pPr>
            <a:r>
              <a:rPr lang="en-US" dirty="0">
                <a:ea typeface="+mj-lt"/>
                <a:cs typeface="+mj-lt"/>
              </a:rPr>
              <a:t>Steps-</a:t>
            </a:r>
          </a:p>
          <a:p>
            <a:r>
              <a:rPr lang="en-US" dirty="0">
                <a:ea typeface="+mj-lt"/>
                <a:cs typeface="+mj-lt"/>
              </a:rPr>
              <a:t>Initialize all city distances as infinity.</a:t>
            </a:r>
            <a:endParaRPr lang="en-US" dirty="0"/>
          </a:p>
          <a:p>
            <a:r>
              <a:rPr lang="en-US" dirty="0">
                <a:ea typeface="+mj-lt"/>
                <a:cs typeface="+mj-lt"/>
              </a:rPr>
              <a:t>Set source city distance to 0.</a:t>
            </a:r>
            <a:endParaRPr lang="en-US" dirty="0"/>
          </a:p>
          <a:p>
            <a:r>
              <a:rPr lang="en-US" dirty="0">
                <a:ea typeface="+mj-lt"/>
                <a:cs typeface="+mj-lt"/>
              </a:rPr>
              <a:t>Relax all roads (edges) |V|−1 times. (Core step)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j-lt"/>
                <a:cs typeface="+mj-lt"/>
              </a:rPr>
              <a:t>     -&gt;Formula: </a:t>
            </a:r>
            <a:r>
              <a:rPr lang="en-US" dirty="0">
                <a:highlight>
                  <a:srgbClr val="98A6A8"/>
                </a:highlight>
                <a:ea typeface="+mj-lt"/>
                <a:cs typeface="+mj-lt"/>
              </a:rPr>
              <a:t>if (dist.[u] + w &lt; dist.[v]) then dist.[v] = dist.[u] + w</a:t>
            </a:r>
            <a:endParaRPr lang="en-US">
              <a:highlight>
                <a:srgbClr val="98A6A8"/>
              </a:highlight>
            </a:endParaRPr>
          </a:p>
          <a:p>
            <a:r>
              <a:rPr lang="en-US" dirty="0">
                <a:ea typeface="+mj-lt"/>
                <a:cs typeface="+mj-lt"/>
              </a:rPr>
              <a:t>Check for negative weight cycles.(a route with inconsistent or unrealistic road data.)</a:t>
            </a:r>
            <a:endParaRPr lang="en-US" dirty="0"/>
          </a:p>
          <a:p>
            <a:r>
              <a:rPr lang="en-US" dirty="0">
                <a:ea typeface="+mj-lt"/>
                <a:cs typeface="+mj-lt"/>
              </a:rPr>
              <a:t>The algorithm prints the </a:t>
            </a:r>
            <a:r>
              <a:rPr lang="en-US" b="1" dirty="0">
                <a:ea typeface="+mj-lt"/>
                <a:cs typeface="+mj-lt"/>
              </a:rPr>
              <a:t>shortest distances</a:t>
            </a:r>
            <a:r>
              <a:rPr lang="en-US" dirty="0">
                <a:ea typeface="+mj-lt"/>
                <a:cs typeface="+mj-lt"/>
              </a:rPr>
              <a:t> from the source city to every other city.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ea typeface="+mj-lt"/>
                <a:cs typeface="+mj-lt"/>
              </a:rPr>
              <a:t>Dynamic Programming + Memoization:</a:t>
            </a:r>
            <a:br>
              <a:rPr lang="en-US" b="1" dirty="0">
                <a:ea typeface="+mj-lt"/>
                <a:cs typeface="+mj-lt"/>
              </a:rPr>
            </a:br>
            <a:r>
              <a:rPr lang="en-US" b="1" dirty="0">
                <a:ea typeface="+mj-lt"/>
                <a:cs typeface="+mj-lt"/>
              </a:rPr>
              <a:t> </a:t>
            </a:r>
            <a:r>
              <a:rPr lang="en-US" dirty="0">
                <a:ea typeface="+mj-lt"/>
                <a:cs typeface="+mj-lt"/>
              </a:rPr>
              <a:t>Store results in a table to reuse for repeated source queries, improving efficiency.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023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C1CA7196-CAF1-4234-8849-E335F0BCA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A7C3535-4FB5-4E5B-BDFE-FA61877AF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67600" y="0"/>
            <a:ext cx="47244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diagram of a process&#10;&#10;AI-generated content may be incorrect.">
            <a:extLst>
              <a:ext uri="{FF2B5EF4-FFF2-40B4-BE49-F238E27FC236}">
                <a16:creationId xmlns:a16="http://schemas.microsoft.com/office/drawing/2014/main" id="{41A9959E-B405-EB69-B591-6B07B1CD7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940" y="1394460"/>
            <a:ext cx="7232952" cy="483107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67431-4D0D-3CA8-5401-CF4DD97CE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0349" y="363303"/>
            <a:ext cx="4261756" cy="632804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800" b="1" dirty="0"/>
              <a:t>Dynamic Programming &amp; </a:t>
            </a:r>
            <a:r>
              <a:rPr lang="en-US" sz="2800" b="1" noProof="1"/>
              <a:t>Memoization</a:t>
            </a:r>
            <a:r>
              <a:rPr lang="en-US" sz="2800" b="1" dirty="0"/>
              <a:t>:</a:t>
            </a:r>
            <a:endParaRPr lang="en-US" sz="2800"/>
          </a:p>
          <a:p>
            <a:pPr>
              <a:lnSpc>
                <a:spcPct val="90000"/>
              </a:lnSpc>
            </a:pPr>
            <a:r>
              <a:rPr lang="en-US" sz="2800" b="1" dirty="0">
                <a:ea typeface="+mj-lt"/>
                <a:cs typeface="+mj-lt"/>
              </a:rPr>
              <a:t>Dynamic Programming:</a:t>
            </a:r>
            <a:br>
              <a:rPr lang="en-US" sz="2800" b="1" dirty="0">
                <a:ea typeface="+mj-lt"/>
                <a:cs typeface="+mj-lt"/>
              </a:rPr>
            </a:br>
            <a:r>
              <a:rPr lang="en-US" sz="2800" dirty="0">
                <a:ea typeface="+mj-lt"/>
                <a:cs typeface="+mj-lt"/>
              </a:rPr>
              <a:t>Each</a:t>
            </a:r>
            <a:r>
              <a:rPr lang="en-US" sz="2800" b="1" dirty="0">
                <a:ea typeface="+mj-lt"/>
                <a:cs typeface="+mj-lt"/>
              </a:rPr>
              <a:t> Relaxation </a:t>
            </a:r>
            <a:r>
              <a:rPr lang="en-US" sz="2800" dirty="0">
                <a:ea typeface="+mj-lt"/>
                <a:cs typeface="+mj-lt"/>
              </a:rPr>
              <a:t>depends on previously computed shortest distances.</a:t>
            </a:r>
            <a:br>
              <a:rPr lang="en-US" sz="2800" dirty="0">
                <a:ea typeface="+mj-lt"/>
                <a:cs typeface="+mj-lt"/>
              </a:rPr>
            </a:br>
            <a:r>
              <a:rPr lang="en-US" sz="2800" dirty="0">
                <a:ea typeface="+mj-lt"/>
                <a:cs typeface="+mj-lt"/>
              </a:rPr>
              <a:t> Hence, it’s a DP algorithm </a:t>
            </a:r>
            <a:r>
              <a:rPr lang="en-US" sz="2800" b="1" noProof="1">
                <a:ea typeface="+mj-lt"/>
                <a:cs typeface="+mj-lt"/>
              </a:rPr>
              <a:t>Memoization</a:t>
            </a:r>
            <a:r>
              <a:rPr lang="en-US" sz="2800" b="1" dirty="0">
                <a:ea typeface="+mj-lt"/>
                <a:cs typeface="+mj-lt"/>
              </a:rPr>
              <a:t> Enhancement:</a:t>
            </a:r>
            <a:br>
              <a:rPr lang="en-US" sz="2800" b="1" dirty="0">
                <a:ea typeface="+mj-lt"/>
                <a:cs typeface="+mj-lt"/>
              </a:rPr>
            </a:br>
            <a:r>
              <a:rPr lang="en-US" sz="2800" b="1" dirty="0">
                <a:ea typeface="+mj-lt"/>
                <a:cs typeface="+mj-lt"/>
              </a:rPr>
              <a:t> </a:t>
            </a:r>
            <a:r>
              <a:rPr lang="en-US" sz="2800" dirty="0">
                <a:ea typeface="+mj-lt"/>
                <a:cs typeface="+mj-lt"/>
              </a:rPr>
              <a:t>When a source city’s routes are already computed, the results are stored in a 2D memo table:  </a:t>
            </a:r>
            <a:r>
              <a:rPr lang="en-US" sz="2800" dirty="0">
                <a:highlight>
                  <a:srgbClr val="C0C0C0"/>
                </a:highlight>
                <a:ea typeface="+mj-lt"/>
                <a:cs typeface="+mj-lt"/>
              </a:rPr>
              <a:t>memo[</a:t>
            </a:r>
            <a:r>
              <a:rPr lang="en-US" sz="2800" noProof="1">
                <a:highlight>
                  <a:srgbClr val="C0C0C0"/>
                </a:highlight>
                <a:ea typeface="+mj-lt"/>
                <a:cs typeface="+mj-lt"/>
              </a:rPr>
              <a:t>src</a:t>
            </a:r>
            <a:r>
              <a:rPr lang="en-US" sz="2800" dirty="0">
                <a:highlight>
                  <a:srgbClr val="C0C0C0"/>
                </a:highlight>
                <a:ea typeface="+mj-lt"/>
                <a:cs typeface="+mj-lt"/>
              </a:rPr>
              <a:t>][</a:t>
            </a:r>
            <a:r>
              <a:rPr lang="en-US" sz="2800" noProof="1">
                <a:highlight>
                  <a:srgbClr val="C0C0C0"/>
                </a:highlight>
                <a:ea typeface="+mj-lt"/>
                <a:cs typeface="+mj-lt"/>
              </a:rPr>
              <a:t>dest</a:t>
            </a:r>
            <a:r>
              <a:rPr lang="en-US" sz="2800" dirty="0">
                <a:highlight>
                  <a:srgbClr val="C0C0C0"/>
                </a:highlight>
                <a:ea typeface="+mj-lt"/>
                <a:cs typeface="+mj-lt"/>
              </a:rPr>
              <a:t>] = </a:t>
            </a:r>
            <a:r>
              <a:rPr lang="en-US" sz="2800" noProof="1">
                <a:highlight>
                  <a:srgbClr val="C0C0C0"/>
                </a:highlight>
                <a:ea typeface="+mj-lt"/>
                <a:cs typeface="+mj-lt"/>
              </a:rPr>
              <a:t>shortest</a:t>
            </a:r>
            <a:r>
              <a:rPr lang="en-US" sz="2800" dirty="0">
                <a:highlight>
                  <a:srgbClr val="C0C0C0"/>
                </a:highlight>
                <a:ea typeface="+mj-lt"/>
                <a:cs typeface="+mj-lt"/>
              </a:rPr>
              <a:t>_distance;</a:t>
            </a:r>
            <a:endParaRPr lang="en-US" sz="2800">
              <a:highlight>
                <a:srgbClr val="C0C0C0"/>
              </a:highlight>
            </a:endParaRPr>
          </a:p>
          <a:p>
            <a:pPr>
              <a:lnSpc>
                <a:spcPct val="90000"/>
              </a:lnSpc>
            </a:pPr>
            <a:endParaRPr lang="en-US" sz="1700">
              <a:highlight>
                <a:srgbClr val="C0C0C0"/>
              </a:highlight>
            </a:endParaRPr>
          </a:p>
          <a:p>
            <a:pPr>
              <a:lnSpc>
                <a:spcPct val="90000"/>
              </a:lnSpc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1333815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F01BD-CA9A-8B64-5046-7C5E616C3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4841" y="160283"/>
            <a:ext cx="5440418" cy="675290"/>
          </a:xfrm>
        </p:spPr>
        <p:txBody>
          <a:bodyPr>
            <a:normAutofit/>
          </a:bodyPr>
          <a:lstStyle/>
          <a:p>
            <a:r>
              <a:rPr lang="en-US" sz="3600" b="1" dirty="0"/>
              <a:t>Techniques used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6C32B31-FE73-6977-AEB8-B5BB106189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51389"/>
              </p:ext>
            </p:extLst>
          </p:nvPr>
        </p:nvGraphicFramePr>
        <p:xfrm>
          <a:off x="500819" y="1090238"/>
          <a:ext cx="11180426" cy="5247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0213">
                  <a:extLst>
                    <a:ext uri="{9D8B030D-6E8A-4147-A177-3AD203B41FA5}">
                      <a16:colId xmlns:a16="http://schemas.microsoft.com/office/drawing/2014/main" val="2305558690"/>
                    </a:ext>
                  </a:extLst>
                </a:gridCol>
                <a:gridCol w="5590213">
                  <a:extLst>
                    <a:ext uri="{9D8B030D-6E8A-4147-A177-3AD203B41FA5}">
                      <a16:colId xmlns:a16="http://schemas.microsoft.com/office/drawing/2014/main" val="198120031"/>
                    </a:ext>
                  </a:extLst>
                </a:gridCol>
              </a:tblGrid>
              <a:tr h="45225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oudy Old Style"/>
                        </a:rPr>
                        <a:t>Techniques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oudy Old Style"/>
                        </a:rPr>
                        <a:t>Description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7202970"/>
                  </a:ext>
                </a:extLst>
              </a:tr>
              <a:tr h="146981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oudy Old Style"/>
                        </a:rPr>
                        <a:t>Dynamic Programming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2400" b="0" i="0" u="none" strike="noStrike" noProof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oudy Old Style"/>
                        </a:rPr>
                        <a:t>Algorithm builds shortest paths step-by-step using relaxation.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7061084"/>
                  </a:ext>
                </a:extLst>
              </a:tr>
              <a:tr h="101756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oudy Old Style"/>
                        </a:rPr>
                        <a:t>Memoization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2400" b="0" i="0" u="none" strike="noStrike" noProof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oudy Old Style"/>
                        </a:rPr>
                        <a:t>Stores computed results to avoid recomputation.</a:t>
                      </a:r>
                      <a:endParaRPr lang="en-US" sz="2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Goudy Old Style"/>
                      </a:endParaRP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4854051"/>
                  </a:ext>
                </a:extLst>
              </a:tr>
              <a:tr h="45225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oudy Old Style"/>
                        </a:rPr>
                        <a:t>File Handling (CSV)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oudy Old Style"/>
                        </a:rPr>
                        <a:t>Saves results for later visualization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0818754"/>
                  </a:ext>
                </a:extLst>
              </a:tr>
              <a:tr h="79144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oudy Old Style"/>
                        </a:rPr>
                        <a:t>Networkx Library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oudy Old Style"/>
                        </a:rPr>
                        <a:t>Creates and analysis directed weighted graphs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376387"/>
                  </a:ext>
                </a:extLst>
              </a:tr>
              <a:tr h="45225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oudy Old Style"/>
                        </a:rPr>
                        <a:t>Matplotlib Library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oudy Old Style"/>
                        </a:rPr>
                        <a:t>Visualization nodes, edges and routes.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9474548"/>
                  </a:ext>
                </a:extLst>
              </a:tr>
              <a:tr h="56531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oudy Old Style"/>
                        </a:rPr>
                        <a:t>Pandas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oudy Old Style"/>
                        </a:rPr>
                        <a:t>Reads and writes CSV files efficiently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77867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6726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1A67A-DD2B-438B-BA2A-CC0F9445F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1791" y="189895"/>
            <a:ext cx="7358138" cy="633791"/>
          </a:xfrm>
        </p:spPr>
        <p:txBody>
          <a:bodyPr>
            <a:normAutofit/>
          </a:bodyPr>
          <a:lstStyle/>
          <a:p>
            <a:r>
              <a:rPr lang="en-US" b="1" dirty="0"/>
              <a:t>Implementation Overview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D0485371-C03B-D504-E767-5BEC60D846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6329085"/>
              </p:ext>
            </p:extLst>
          </p:nvPr>
        </p:nvGraphicFramePr>
        <p:xfrm>
          <a:off x="2757714" y="1237343"/>
          <a:ext cx="6664476" cy="51936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62356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11888-FDAB-FA74-5797-4D49D09AE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2838" y="165705"/>
            <a:ext cx="6402614" cy="633790"/>
          </a:xfrm>
        </p:spPr>
        <p:txBody>
          <a:bodyPr>
            <a:noAutofit/>
          </a:bodyPr>
          <a:lstStyle/>
          <a:p>
            <a:r>
              <a:rPr lang="en-US" sz="4000" b="1" dirty="0">
                <a:ea typeface="+mj-lt"/>
                <a:cs typeface="+mj-lt"/>
              </a:rPr>
              <a:t>Benefits &amp; Results</a:t>
            </a:r>
            <a:endParaRPr lang="en-US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C3B27-D50C-79EC-DD53-D93C0E84E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932" y="1008293"/>
            <a:ext cx="11639852" cy="607104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3200" b="1" dirty="0">
                <a:ea typeface="+mj-lt"/>
                <a:cs typeface="+mj-lt"/>
              </a:rPr>
              <a:t>Benefits:</a:t>
            </a:r>
            <a:endParaRPr lang="en-US" sz="3200">
              <a:ea typeface="+mj-lt"/>
              <a:cs typeface="+mj-lt"/>
            </a:endParaRPr>
          </a:p>
          <a:p>
            <a:pPr>
              <a:buFont typeface="Arial"/>
              <a:buChar char="•"/>
            </a:pPr>
            <a:r>
              <a:rPr lang="en-US" sz="2800" dirty="0">
                <a:ea typeface="+mj-lt"/>
                <a:cs typeface="+mj-lt"/>
              </a:rPr>
              <a:t>Ensures correctness even in graphs with </a:t>
            </a:r>
            <a:r>
              <a:rPr lang="en-US" sz="2800" b="1" dirty="0">
                <a:ea typeface="+mj-lt"/>
                <a:cs typeface="+mj-lt"/>
              </a:rPr>
              <a:t>negative edge weights</a:t>
            </a:r>
            <a:r>
              <a:rPr lang="en-US" sz="2800" dirty="0">
                <a:ea typeface="+mj-lt"/>
                <a:cs typeface="+mj-lt"/>
              </a:rPr>
              <a:t>.</a:t>
            </a:r>
            <a:endParaRPr lang="en-US" sz="2800" dirty="0"/>
          </a:p>
          <a:p>
            <a:pPr>
              <a:buFont typeface="Arial"/>
              <a:buChar char="•"/>
            </a:pPr>
            <a:r>
              <a:rPr lang="en-US" sz="2800" dirty="0">
                <a:ea typeface="+mj-lt"/>
                <a:cs typeface="+mj-lt"/>
              </a:rPr>
              <a:t>Significantly reduces computation time for repeated queries.</a:t>
            </a:r>
            <a:endParaRPr lang="en-US" sz="2800" dirty="0"/>
          </a:p>
          <a:p>
            <a:pPr>
              <a:buFont typeface="Arial"/>
              <a:buChar char="•"/>
            </a:pPr>
            <a:r>
              <a:rPr lang="en-US" sz="2800" dirty="0">
                <a:ea typeface="+mj-lt"/>
                <a:cs typeface="+mj-lt"/>
              </a:rPr>
              <a:t>Makes the program faster and more efficient — a crucial factor for large networks.</a:t>
            </a:r>
            <a:endParaRPr lang="en-US" sz="2800" dirty="0"/>
          </a:p>
          <a:p>
            <a:pPr>
              <a:buFont typeface="Arial"/>
              <a:buChar char="•"/>
            </a:pPr>
            <a:r>
              <a:rPr lang="en-US" sz="2800" dirty="0">
                <a:ea typeface="+mj-lt"/>
                <a:cs typeface="+mj-lt"/>
              </a:rPr>
              <a:t>Application remains interactive and realistic for testing different city networks.</a:t>
            </a:r>
            <a:endParaRPr lang="en-US" sz="2800" dirty="0"/>
          </a:p>
          <a:p>
            <a:pPr marL="0" indent="0">
              <a:buNone/>
            </a:pPr>
            <a:r>
              <a:rPr lang="en-US" sz="3200" b="1" dirty="0"/>
              <a:t>Results:</a:t>
            </a:r>
            <a:endParaRPr lang="en-US" sz="3200">
              <a:solidFill>
                <a:srgbClr val="000000"/>
              </a:solidFill>
            </a:endParaRPr>
          </a:p>
          <a:p>
            <a:pPr>
              <a:buFont typeface="Arial"/>
              <a:buChar char="•"/>
            </a:pPr>
            <a:r>
              <a:rPr lang="en-US" sz="2800" dirty="0"/>
              <a:t>Successfully computes optimal routes between all entered cities.</a:t>
            </a:r>
            <a:endParaRPr lang="en-US" sz="2800">
              <a:solidFill>
                <a:srgbClr val="000000"/>
              </a:solidFill>
            </a:endParaRPr>
          </a:p>
          <a:p>
            <a:pPr>
              <a:buFont typeface="Arial"/>
              <a:buChar char="•"/>
            </a:pPr>
            <a:r>
              <a:rPr lang="en-US" sz="2800" dirty="0"/>
              <a:t>Detects negative cycles automatically.</a:t>
            </a:r>
            <a:endParaRPr lang="en-US" sz="2800">
              <a:solidFill>
                <a:srgbClr val="000000"/>
              </a:solidFill>
            </a:endParaRPr>
          </a:p>
          <a:p>
            <a:pPr>
              <a:buFont typeface="Arial"/>
              <a:buChar char="•"/>
            </a:pPr>
            <a:r>
              <a:rPr lang="en-US" sz="2800" dirty="0"/>
              <a:t>Faster performance for repeated city queries.</a:t>
            </a:r>
          </a:p>
          <a:p>
            <a:pPr>
              <a:buFont typeface="Arial"/>
              <a:buChar char="•"/>
            </a:pPr>
            <a:endParaRPr lang="en-US" sz="32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333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AB618-DBCC-12A9-A767-E3DD884C4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1909" y="2628"/>
            <a:ext cx="7819425" cy="633790"/>
          </a:xfrm>
        </p:spPr>
        <p:txBody>
          <a:bodyPr>
            <a:noAutofit/>
          </a:bodyPr>
          <a:lstStyle/>
          <a:p>
            <a:r>
              <a:rPr lang="en-US" b="1" dirty="0"/>
              <a:t>Conclusion &amp; future scopes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F0FFD-0E16-77A1-FE5E-B1E4BB81F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496" y="615407"/>
            <a:ext cx="11472396" cy="623433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800" b="1" dirty="0"/>
              <a:t>Conclusion:</a:t>
            </a:r>
            <a:endParaRPr lang="en-US" sz="2800">
              <a:solidFill>
                <a:srgbClr val="000000"/>
              </a:solidFill>
            </a:endParaRPr>
          </a:p>
          <a:p>
            <a:pPr>
              <a:buFont typeface="Arial,Sans-Serif" panose="020B0604020202020204" pitchFamily="34" charset="0"/>
              <a:buChar char="•"/>
            </a:pPr>
            <a:r>
              <a:rPr lang="en-US" sz="2800" dirty="0"/>
              <a:t>Bellman-Ford Algorithm effectively finds the shortest paths between cities.</a:t>
            </a:r>
            <a:endParaRPr lang="en-US" sz="2800">
              <a:solidFill>
                <a:srgbClr val="293737"/>
              </a:solidFill>
            </a:endParaRPr>
          </a:p>
          <a:p>
            <a:pPr>
              <a:buFont typeface="Arial,Sans-Serif" panose="020B0604020202020204" pitchFamily="34" charset="0"/>
              <a:buChar char="•"/>
            </a:pPr>
            <a:r>
              <a:rPr lang="en-US" sz="2800" noProof="1"/>
              <a:t>Memoization</a:t>
            </a:r>
            <a:r>
              <a:rPr lang="en-US" sz="2800" b="1" noProof="1"/>
              <a:t> </a:t>
            </a:r>
            <a:r>
              <a:rPr lang="en-US" sz="2800" noProof="1"/>
              <a:t>used </a:t>
            </a:r>
            <a:r>
              <a:rPr lang="en-US" sz="2800" dirty="0"/>
              <a:t>paths are stored, avoiding unnecessary recalculations.</a:t>
            </a:r>
            <a:endParaRPr lang="en-US" sz="2800">
              <a:solidFill>
                <a:srgbClr val="000000"/>
              </a:solidFill>
            </a:endParaRPr>
          </a:p>
          <a:p>
            <a:pPr>
              <a:buFont typeface="Arial,Sans-Serif" panose="020B0604020202020204" pitchFamily="34" charset="0"/>
              <a:buChar char="•"/>
            </a:pPr>
            <a:r>
              <a:rPr lang="en-US" sz="2800" dirty="0"/>
              <a:t>User inputs, data structures, and validation.</a:t>
            </a:r>
            <a:endParaRPr lang="en-US" sz="2800">
              <a:solidFill>
                <a:srgbClr val="293737"/>
              </a:solidFill>
            </a:endParaRPr>
          </a:p>
          <a:p>
            <a:pPr>
              <a:buFont typeface="Arial,Sans-Serif" panose="020B0604020202020204" pitchFamily="34" charset="0"/>
              <a:buChar char="•"/>
            </a:pPr>
            <a:r>
              <a:rPr lang="en-US" sz="2800" dirty="0"/>
              <a:t>Dynamic Programming theory can be applied in </a:t>
            </a:r>
            <a:r>
              <a:rPr lang="en-US" sz="2800" b="1" dirty="0"/>
              <a:t>r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eal-world domains</a:t>
            </a:r>
            <a:r>
              <a:rPr lang="en-US" sz="2800" b="1" dirty="0"/>
              <a:t> </a:t>
            </a:r>
            <a:r>
              <a:rPr lang="en-US" sz="2800" dirty="0"/>
              <a:t>like </a:t>
            </a:r>
            <a:endParaRPr lang="en-US" sz="280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2800" dirty="0"/>
              <a:t>  travel, logistics, and route optimization.</a:t>
            </a:r>
            <a:endParaRPr lang="en-US" sz="280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293737"/>
                </a:solidFill>
              </a:rPr>
              <a:t>Future Scopes:</a:t>
            </a:r>
          </a:p>
          <a:p>
            <a:r>
              <a:rPr lang="en-US" sz="2800" dirty="0">
                <a:solidFill>
                  <a:srgbClr val="293737"/>
                </a:solidFill>
                <a:ea typeface="+mj-lt"/>
                <a:cs typeface="+mj-lt"/>
              </a:rPr>
              <a:t>GUI Map Visualization</a:t>
            </a:r>
            <a:endParaRPr lang="en-US" sz="2800">
              <a:solidFill>
                <a:srgbClr val="293737"/>
              </a:solidFill>
              <a:ea typeface="+mj-lt"/>
              <a:cs typeface="+mj-lt"/>
            </a:endParaRPr>
          </a:p>
          <a:p>
            <a:r>
              <a:rPr lang="en-US" sz="2800" dirty="0">
                <a:solidFill>
                  <a:srgbClr val="293737"/>
                </a:solidFill>
                <a:ea typeface="+mj-lt"/>
                <a:cs typeface="+mj-lt"/>
              </a:rPr>
              <a:t>GPS Integration</a:t>
            </a:r>
            <a:endParaRPr lang="en-US" sz="2800">
              <a:solidFill>
                <a:srgbClr val="293737"/>
              </a:solidFill>
              <a:ea typeface="+mj-lt"/>
              <a:cs typeface="+mj-lt"/>
            </a:endParaRPr>
          </a:p>
          <a:p>
            <a:r>
              <a:rPr lang="en-US" sz="2800" dirty="0">
                <a:solidFill>
                  <a:srgbClr val="293737"/>
                </a:solidFill>
                <a:ea typeface="+mj-lt"/>
                <a:cs typeface="+mj-lt"/>
              </a:rPr>
              <a:t>Real-Time Traffic Analysis</a:t>
            </a:r>
            <a:endParaRPr lang="en-US" sz="2800">
              <a:solidFill>
                <a:srgbClr val="293737"/>
              </a:solidFill>
              <a:ea typeface="+mj-lt"/>
              <a:cs typeface="+mj-lt"/>
            </a:endParaRPr>
          </a:p>
          <a:p>
            <a:r>
              <a:rPr lang="en-US" sz="2800" dirty="0">
                <a:solidFill>
                  <a:srgbClr val="293737"/>
                </a:solidFill>
                <a:ea typeface="+mj-lt"/>
                <a:cs typeface="+mj-lt"/>
              </a:rPr>
              <a:t>Multi-Modal Transport Planning</a:t>
            </a:r>
            <a:endParaRPr lang="en-US" sz="2800" dirty="0"/>
          </a:p>
          <a:p>
            <a:pPr marL="0" indent="0">
              <a:buNone/>
            </a:pPr>
            <a:endParaRPr lang="en-US" b="1" dirty="0">
              <a:solidFill>
                <a:srgbClr val="293737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293737"/>
              </a:solidFill>
            </a:endParaRPr>
          </a:p>
          <a:p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101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lassicFrameVTI">
  <a:themeElements>
    <a:clrScheme name="Custom 22">
      <a:dk1>
        <a:sysClr val="windowText" lastClr="000000"/>
      </a:dk1>
      <a:lt1>
        <a:sysClr val="window" lastClr="FFFFFF"/>
      </a:lt1>
      <a:dk2>
        <a:srgbClr val="293737"/>
      </a:dk2>
      <a:lt2>
        <a:srgbClr val="EEF2F0"/>
      </a:lt2>
      <a:accent1>
        <a:srgbClr val="749090"/>
      </a:accent1>
      <a:accent2>
        <a:srgbClr val="A5A5A5"/>
      </a:accent2>
      <a:accent3>
        <a:srgbClr val="91A39B"/>
      </a:accent3>
      <a:accent4>
        <a:srgbClr val="A9A698"/>
      </a:accent4>
      <a:accent5>
        <a:srgbClr val="A2A79A"/>
      </a:accent5>
      <a:accent6>
        <a:srgbClr val="897F65"/>
      </a:accent6>
      <a:hlink>
        <a:srgbClr val="92872F"/>
      </a:hlink>
      <a:folHlink>
        <a:srgbClr val="AB73A9"/>
      </a:folHlink>
    </a:clrScheme>
    <a:fontScheme name="Goudy and Gill Sans">
      <a:majorFont>
        <a:latin typeface="Goudy Old Style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FrameVTI" id="{4FA2A165-EC65-4FB0-B019-8C8876A1D8E3}" vid="{9D78F1F1-8226-42FD-A1A3-975EDF6D60F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ClassicFrameVTI</vt:lpstr>
      <vt:lpstr>Optimal Route Planner  Domain: Travel and Logistics</vt:lpstr>
      <vt:lpstr>Problem Statement &amp; Objective</vt:lpstr>
      <vt:lpstr>Algorithm &amp; Approach</vt:lpstr>
      <vt:lpstr>PowerPoint Presentation</vt:lpstr>
      <vt:lpstr>Techniques used</vt:lpstr>
      <vt:lpstr>Implementation Overview</vt:lpstr>
      <vt:lpstr>Benefits &amp; Results</vt:lpstr>
      <vt:lpstr>Conclusion &amp; future scopes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530</cp:revision>
  <dcterms:created xsi:type="dcterms:W3CDTF">2025-11-02T13:32:09Z</dcterms:created>
  <dcterms:modified xsi:type="dcterms:W3CDTF">2025-11-02T19:06:43Z</dcterms:modified>
</cp:coreProperties>
</file>